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3E4BBC-87ED-4C2E-970D-2A32D4E8BE7A}">
          <p14:sldIdLst>
            <p14:sldId id="268"/>
            <p14:sldId id="310"/>
            <p14:sldId id="311"/>
            <p14:sldId id="312"/>
            <p14:sldId id="313"/>
          </p14:sldIdLst>
        </p14:section>
        <p14:section name="Untitled Section" id="{FA963968-39DB-4333-8E4A-5AEF9E58CFCF}">
          <p14:sldIdLst>
            <p14:sldId id="314"/>
            <p14:sldId id="315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19" autoAdjust="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 Prajapati" userId="da447b80f9ff9566" providerId="LiveId" clId="{F9D69A15-AF22-484F-A32B-3F2E8BE41D62}"/>
    <pc:docChg chg="custSel modSld">
      <pc:chgData name="Jay Prajapati" userId="da447b80f9ff9566" providerId="LiveId" clId="{F9D69A15-AF22-484F-A32B-3F2E8BE41D62}" dt="2026-08-27T10:46:43.437" v="2" actId="478"/>
      <pc:docMkLst>
        <pc:docMk/>
      </pc:docMkLst>
      <pc:sldChg chg="delSp modSp mod">
        <pc:chgData name="Jay Prajapati" userId="da447b80f9ff9566" providerId="LiveId" clId="{F9D69A15-AF22-484F-A32B-3F2E8BE41D62}" dt="2026-08-27T10:46:43.437" v="2" actId="478"/>
        <pc:sldMkLst>
          <pc:docMk/>
          <pc:sldMk cId="3912747309" sldId="268"/>
        </pc:sldMkLst>
        <pc:spChg chg="del mod">
          <ac:chgData name="Jay Prajapati" userId="da447b80f9ff9566" providerId="LiveId" clId="{F9D69A15-AF22-484F-A32B-3F2E8BE41D62}" dt="2026-08-27T10:46:43.437" v="2" actId="478"/>
          <ac:spMkLst>
            <pc:docMk/>
            <pc:sldMk cId="3912747309" sldId="268"/>
            <ac:spMk id="5" creationId="{A154D0A9-18FA-F2B2-B2F5-F09DD19D219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Functional treat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CC6FD-DBB8-0408-D280-9C7C5975F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sz="4600" b="1" dirty="0"/>
              <a:t>Functional</a:t>
            </a:r>
            <a:r>
              <a:rPr lang="en-IN" b="1" dirty="0"/>
              <a:t> Treat</a:t>
            </a:r>
            <a:endParaRPr lang="en-IN" dirty="0"/>
          </a:p>
          <a:p>
            <a:r>
              <a:rPr lang="en-IN" b="1" dirty="0"/>
              <a:t>Programming Language:</a:t>
            </a:r>
            <a:r>
              <a:rPr lang="en-IN" dirty="0"/>
              <a:t> Python</a:t>
            </a:r>
          </a:p>
          <a:p>
            <a:r>
              <a:rPr lang="en-IN" b="1" dirty="0"/>
              <a:t>Main Concepts:</a:t>
            </a:r>
            <a:endParaRPr lang="en-IN" dirty="0"/>
          </a:p>
          <a:p>
            <a:pPr lvl="0"/>
            <a:r>
              <a:rPr lang="en-IN" dirty="0"/>
              <a:t>Built-in Functions </a:t>
            </a:r>
          </a:p>
          <a:p>
            <a:pPr lvl="0"/>
            <a:r>
              <a:rPr lang="en-IN" dirty="0"/>
              <a:t>Recursion </a:t>
            </a:r>
          </a:p>
          <a:p>
            <a:pPr lvl="0"/>
            <a:r>
              <a:rPr lang="en-IN" dirty="0"/>
              <a:t>Lambda Function </a:t>
            </a:r>
          </a:p>
          <a:p>
            <a:pPr lvl="0"/>
            <a:r>
              <a:rPr lang="en-IN" dirty="0"/>
              <a:t>Sorting </a:t>
            </a:r>
          </a:p>
          <a:p>
            <a:pPr lvl="0"/>
            <a:r>
              <a:rPr lang="en-IN" dirty="0"/>
              <a:t>Multiple Return Values </a:t>
            </a:r>
          </a:p>
          <a:p>
            <a:pPr lvl="0"/>
            <a:r>
              <a:rPr lang="en-IN" dirty="0"/>
              <a:t>**</a:t>
            </a:r>
            <a:r>
              <a:rPr lang="en-IN" dirty="0" err="1"/>
              <a:t>kwargs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Global Variables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5A74-0AB5-E8E2-CBD7-7D66BF9FC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introduction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3667F-3D34-BEAC-ACF1-77668F55E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The Data Analyzer and Transformer is a </a:t>
            </a:r>
            <a:r>
              <a:rPr lang="en-IN" b="1" dirty="0"/>
              <a:t>menu-driven Python application</a:t>
            </a:r>
            <a:r>
              <a:rPr lang="en-IN" dirty="0"/>
              <a:t> designed to work with numerical data.</a:t>
            </a:r>
          </a:p>
          <a:p>
            <a:r>
              <a:rPr lang="en-IN" dirty="0"/>
              <a:t>The program allows the user to:</a:t>
            </a:r>
          </a:p>
          <a:p>
            <a:pPr marL="0" indent="0">
              <a:buNone/>
            </a:pPr>
            <a:r>
              <a:rPr lang="en-IN" dirty="0"/>
              <a:t>Main Menu</a:t>
            </a:r>
          </a:p>
          <a:p>
            <a:r>
              <a:rPr lang="en-IN" dirty="0"/>
              <a:t>        Input Data</a:t>
            </a:r>
          </a:p>
          <a:p>
            <a:r>
              <a:rPr lang="en-IN" dirty="0"/>
              <a:t>         Display Data Summary (Built-in Functions)</a:t>
            </a:r>
          </a:p>
          <a:p>
            <a:r>
              <a:rPr lang="en-IN" dirty="0"/>
              <a:t>         Calculate Factorial (Recursion)")</a:t>
            </a:r>
          </a:p>
          <a:p>
            <a:r>
              <a:rPr lang="en-IN" dirty="0"/>
              <a:t>         Filter Data by Threshold (Lambda Function)")</a:t>
            </a:r>
          </a:p>
          <a:p>
            <a:r>
              <a:rPr lang="en-IN" dirty="0"/>
              <a:t>         Sort Data</a:t>
            </a:r>
          </a:p>
          <a:p>
            <a:r>
              <a:rPr lang="en-IN" dirty="0"/>
              <a:t>         Display Dataset Statistics (Return Multiple Values)</a:t>
            </a:r>
          </a:p>
          <a:p>
            <a:r>
              <a:rPr lang="en-IN" dirty="0"/>
              <a:t>        View Tracked Metrics Info (**</a:t>
            </a:r>
            <a:r>
              <a:rPr lang="en-IN" dirty="0" err="1"/>
              <a:t>kwargs</a:t>
            </a:r>
            <a:r>
              <a:rPr lang="en-IN" dirty="0"/>
              <a:t>)")</a:t>
            </a:r>
          </a:p>
          <a:p>
            <a:r>
              <a:rPr lang="en-IN" dirty="0"/>
              <a:t>         Exit Program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7491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8D81-21E2-5AEE-A222-3B6AA18FA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Functional treat  of the project 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1C150-F6B6-7B79-F6D1-7A0B5A179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endParaRPr lang="en-IN" b="1" dirty="0"/>
          </a:p>
          <a:p>
            <a:r>
              <a:rPr lang="en-IN" b="1" dirty="0"/>
              <a:t>What is Functional Design?</a:t>
            </a:r>
          </a:p>
          <a:p>
            <a:r>
              <a:rPr lang="en-IN" dirty="0"/>
              <a:t>Functional design divides a program into </a:t>
            </a:r>
            <a:r>
              <a:rPr lang="en-IN" b="1" dirty="0"/>
              <a:t>small, independent functions</a:t>
            </a:r>
            <a:r>
              <a:rPr lang="en-IN" dirty="0"/>
              <a:t>, where each function performs a particular task.</a:t>
            </a:r>
          </a:p>
          <a:p>
            <a:r>
              <a:rPr lang="en-IN" b="1" dirty="0"/>
              <a:t>In this project:</a:t>
            </a:r>
          </a:p>
          <a:p>
            <a:r>
              <a:rPr lang="en-IN" dirty="0"/>
              <a:t>                 main()</a:t>
            </a:r>
          </a:p>
          <a:p>
            <a:r>
              <a:rPr lang="en-IN" dirty="0"/>
              <a:t>                   |</a:t>
            </a:r>
          </a:p>
          <a:p>
            <a:r>
              <a:rPr lang="en-IN" dirty="0"/>
              <a:t>        +----------+----------+</a:t>
            </a:r>
          </a:p>
          <a:p>
            <a:r>
              <a:rPr lang="en-IN" dirty="0"/>
              <a:t>        |          |          |</a:t>
            </a:r>
          </a:p>
          <a:p>
            <a:r>
              <a:rPr lang="en-IN" dirty="0"/>
              <a:t>   Input Data   Analysis    Processing</a:t>
            </a:r>
          </a:p>
          <a:p>
            <a:r>
              <a:rPr lang="en-IN" dirty="0"/>
              <a:t>        |          |          |</a:t>
            </a:r>
          </a:p>
          <a:p>
            <a:r>
              <a:rPr lang="en-IN" dirty="0"/>
              <a:t>   </a:t>
            </a:r>
            <a:r>
              <a:rPr lang="en-IN" dirty="0" err="1"/>
              <a:t>input_data</a:t>
            </a:r>
            <a:r>
              <a:rPr lang="en-IN" dirty="0"/>
              <a:t>()   Summary    Sorting</a:t>
            </a:r>
          </a:p>
          <a:p>
            <a:r>
              <a:rPr lang="en-IN" dirty="0"/>
              <a:t>                  Factorial  Filtering</a:t>
            </a:r>
          </a:p>
          <a:p>
            <a:r>
              <a:rPr lang="en-IN" dirty="0"/>
              <a:t>                  Statistics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284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B18F-6CD7-4077-8A78-3BB4F936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input data function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00267-BB14-F81C-DA4B-E448D608F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err="1"/>
              <a:t>input_data</a:t>
            </a:r>
            <a:r>
              <a:rPr lang="en-IN" b="1" dirty="0"/>
              <a:t>()</a:t>
            </a:r>
          </a:p>
          <a:p>
            <a:r>
              <a:rPr lang="en-IN" b="1" dirty="0"/>
              <a:t>Purpose:</a:t>
            </a:r>
            <a:r>
              <a:rPr lang="en-IN" dirty="0"/>
              <a:t> Collect numerical data from the user or load sample data.</a:t>
            </a:r>
          </a:p>
          <a:p>
            <a:r>
              <a:rPr lang="en-IN" b="1" dirty="0"/>
              <a:t>Working:</a:t>
            </a:r>
          </a:p>
          <a:p>
            <a:pPr lvl="0"/>
            <a:r>
              <a:rPr lang="en-IN" dirty="0"/>
              <a:t>Ask the user to choose an input method. </a:t>
            </a:r>
          </a:p>
          <a:p>
            <a:pPr lvl="0"/>
            <a:r>
              <a:rPr lang="en-IN" dirty="0"/>
              <a:t>Accept numbers separated by spaces. </a:t>
            </a:r>
          </a:p>
          <a:p>
            <a:pPr lvl="0"/>
            <a:r>
              <a:rPr lang="en-IN" dirty="0"/>
              <a:t>Convert valid values into integers. </a:t>
            </a:r>
          </a:p>
          <a:p>
            <a:pPr lvl="0"/>
            <a:r>
              <a:rPr lang="en-IN" dirty="0"/>
              <a:t>Store them in DATASET. </a:t>
            </a:r>
          </a:p>
          <a:p>
            <a:pPr lvl="0"/>
            <a:r>
              <a:rPr lang="en-IN" dirty="0"/>
              <a:t>Update global metrics.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7448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8101-9561-9D7D-AD20-705B1FBA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data summary 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4B7CB4-7A0C-639D-FC62-05BE90C3CE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3074194"/>
          <a:ext cx="100584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2709700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286906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083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Counts elements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49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Finds minimum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050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max()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Finds maximum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686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sum()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Calculates 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4586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5EEE071-B543-5E62-B92F-197E0EC58DF2}"/>
              </a:ext>
            </a:extLst>
          </p:cNvPr>
          <p:cNvSpPr txBox="1"/>
          <p:nvPr/>
        </p:nvSpPr>
        <p:spPr>
          <a:xfrm>
            <a:off x="1036637" y="2063962"/>
            <a:ext cx="81052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>
                <a:latin typeface="+mn-lt"/>
              </a:rPr>
              <a:t>display_data_summary</a:t>
            </a:r>
            <a:r>
              <a:rPr lang="en-IN" b="1" dirty="0">
                <a:latin typeface="+mn-lt"/>
              </a:rPr>
              <a:t>()</a:t>
            </a:r>
            <a:endParaRPr lang="en-IN" b="1" dirty="0"/>
          </a:p>
          <a:p>
            <a:pPr>
              <a:buNone/>
            </a:pPr>
            <a:r>
              <a:rPr lang="en-IN" b="1" dirty="0"/>
              <a:t>Purpose:</a:t>
            </a:r>
            <a:r>
              <a:rPr lang="en-IN" dirty="0"/>
              <a:t> Display basic statistics about the dataset.</a:t>
            </a:r>
          </a:p>
          <a:p>
            <a:pPr>
              <a:buNone/>
            </a:pPr>
            <a:r>
              <a:rPr lang="en-IN" dirty="0"/>
              <a:t>It uses Python built-in functions:</a:t>
            </a:r>
          </a:p>
        </p:txBody>
      </p:sp>
    </p:spTree>
    <p:extLst>
      <p:ext uri="{BB962C8B-B14F-4D97-AF65-F5344CB8AC3E}">
        <p14:creationId xmlns:p14="http://schemas.microsoft.com/office/powerpoint/2010/main" val="1617008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68D9-DE4C-9000-2958-DCBEAA224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Functional Treat 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27F62-2B2C-38CF-399D-2DF3B41B1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342238"/>
            <a:ext cx="10058400" cy="4781725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BCD1E6-2F4F-45F8-6291-E6FD0997E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127553"/>
              </p:ext>
            </p:extLst>
          </p:nvPr>
        </p:nvGraphicFramePr>
        <p:xfrm>
          <a:off x="1266738" y="2072082"/>
          <a:ext cx="8837182" cy="3796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18591">
                  <a:extLst>
                    <a:ext uri="{9D8B030D-6E8A-4147-A177-3AD203B41FA5}">
                      <a16:colId xmlns:a16="http://schemas.microsoft.com/office/drawing/2014/main" val="2027952608"/>
                    </a:ext>
                  </a:extLst>
                </a:gridCol>
                <a:gridCol w="4418591">
                  <a:extLst>
                    <a:ext uri="{9D8B030D-6E8A-4147-A177-3AD203B41FA5}">
                      <a16:colId xmlns:a16="http://schemas.microsoft.com/office/drawing/2014/main" val="2311990200"/>
                    </a:ext>
                  </a:extLst>
                </a:gridCol>
              </a:tblGrid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Function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Functional Trait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696691979"/>
                  </a:ext>
                </a:extLst>
              </a:tr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input_data()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 input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38865027"/>
                  </a:ext>
                </a:extLst>
              </a:tr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update_global_metrics()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Global metric tracking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623119275"/>
                  </a:ext>
                </a:extLst>
              </a:tr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display_data_summary()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Built-in functions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233801493"/>
                  </a:ext>
                </a:extLst>
              </a:tr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calculate_factorial()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Recursion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2773633064"/>
                  </a:ext>
                </a:extLst>
              </a:tr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run_factorial_option()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User interaction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518744786"/>
                  </a:ext>
                </a:extLst>
              </a:tr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filter_with_lambda()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Lambda function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2780209476"/>
                  </a:ext>
                </a:extLst>
              </a:tr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sort_dataset()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 sorting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2826298899"/>
                  </a:ext>
                </a:extLst>
              </a:tr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get_multiple_values()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Multiple return values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1151836658"/>
                  </a:ext>
                </a:extLst>
              </a:tr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display_dataset_statistics()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Value unpacking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2976212293"/>
                  </a:ext>
                </a:extLst>
              </a:tr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dataset_summary_kwargs()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**kwargs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1177891808"/>
                  </a:ext>
                </a:extLst>
              </a:tr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show_advanced_summary()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Dynamic summary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3308335191"/>
                  </a:ext>
                </a:extLst>
              </a:tr>
              <a:tr h="292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main()</a:t>
                      </a:r>
                    </a:p>
                  </a:txBody>
                  <a:tcPr marL="72323" marR="72323" marT="36161" marB="361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Program control</a:t>
                      </a:r>
                    </a:p>
                  </a:txBody>
                  <a:tcPr marL="72323" marR="72323" marT="36161" marB="36161" anchor="ctr"/>
                </a:tc>
                <a:extLst>
                  <a:ext uri="{0D108BD9-81ED-4DB2-BD59-A6C34878D82A}">
                    <a16:rowId xmlns:a16="http://schemas.microsoft.com/office/drawing/2014/main" val="2578010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9243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2C6DF-58F8-DBE4-DCF8-9E15B899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08ECA-565C-5DFE-DEED-8DA4E65AF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Future Scope</a:t>
            </a:r>
          </a:p>
          <a:p>
            <a:r>
              <a:rPr lang="en-IN" dirty="0"/>
              <a:t>The project can be enhanced by adding:</a:t>
            </a:r>
          </a:p>
          <a:p>
            <a:pPr lvl="0"/>
            <a:r>
              <a:rPr lang="en-IN" dirty="0"/>
              <a:t>CSV/JSON data storage </a:t>
            </a:r>
          </a:p>
          <a:p>
            <a:pPr lvl="0"/>
            <a:r>
              <a:rPr lang="en-IN" dirty="0"/>
              <a:t>Database connectivity </a:t>
            </a:r>
          </a:p>
          <a:p>
            <a:pPr lvl="0"/>
            <a:r>
              <a:rPr lang="en-IN" dirty="0"/>
              <a:t>Graphs and charts </a:t>
            </a:r>
          </a:p>
          <a:p>
            <a:pPr lvl="0"/>
            <a:r>
              <a:rPr lang="en-IN" dirty="0"/>
              <a:t>Median and mode calculations </a:t>
            </a:r>
          </a:p>
          <a:p>
            <a:pPr lvl="0"/>
            <a:r>
              <a:rPr lang="en-IN" dirty="0"/>
              <a:t>Search functionality </a:t>
            </a:r>
          </a:p>
          <a:p>
            <a:pPr lvl="0"/>
            <a:r>
              <a:rPr lang="en-IN" dirty="0"/>
              <a:t>Advanced filtering </a:t>
            </a:r>
          </a:p>
          <a:p>
            <a:pPr lvl="0"/>
            <a:r>
              <a:rPr lang="en-IN" dirty="0"/>
              <a:t>GUI using </a:t>
            </a:r>
            <a:r>
              <a:rPr lang="en-IN" dirty="0" err="1"/>
              <a:t>Tkinter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Exporting analysis reports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86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2B8A-A38C-875D-C313-63CBEFAEF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DAF44-6CC2-414D-82F6-436A6234E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41597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The project successfully demonstrates:</a:t>
            </a:r>
          </a:p>
          <a:p>
            <a:pPr lvl="0"/>
            <a:r>
              <a:rPr lang="en-IN" dirty="0"/>
              <a:t>Built-in functions </a:t>
            </a:r>
          </a:p>
          <a:p>
            <a:pPr lvl="0"/>
            <a:r>
              <a:rPr lang="en-IN" dirty="0"/>
              <a:t>Recursion </a:t>
            </a:r>
          </a:p>
          <a:p>
            <a:pPr lvl="0"/>
            <a:r>
              <a:rPr lang="en-IN" dirty="0"/>
              <a:t>Lambda functions </a:t>
            </a:r>
          </a:p>
          <a:p>
            <a:pPr lvl="0"/>
            <a:r>
              <a:rPr lang="en-IN" dirty="0"/>
              <a:t>Sorting </a:t>
            </a:r>
          </a:p>
          <a:p>
            <a:pPr lvl="0"/>
            <a:r>
              <a:rPr lang="en-IN" dirty="0"/>
              <a:t>Multiple return values </a:t>
            </a:r>
          </a:p>
          <a:p>
            <a:pPr lvl="0"/>
            <a:r>
              <a:rPr lang="en-IN" dirty="0"/>
              <a:t>**</a:t>
            </a:r>
            <a:r>
              <a:rPr lang="en-IN" dirty="0" err="1"/>
              <a:t>kwargs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Global variables </a:t>
            </a:r>
          </a:p>
          <a:p>
            <a:pPr lvl="0"/>
            <a:r>
              <a:rPr lang="en-IN" dirty="0"/>
              <a:t>Modular functions </a:t>
            </a:r>
          </a:p>
          <a:p>
            <a:pPr lvl="0"/>
            <a:r>
              <a:rPr lang="en-IN" dirty="0"/>
              <a:t>Menu-driven program control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9358940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{CEE63DB5-BC66-4498-979E-865303755C49}TF427093bb-7ddc-497b-80f4-fe945bcee621ff7241c0_win32-add2936a5c77</Template>
  <TotalTime>47</TotalTime>
  <Words>418</Words>
  <Application>Microsoft Office PowerPoint</Application>
  <PresentationFormat>Widescreen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Bookman Old Style</vt:lpstr>
      <vt:lpstr>Calibri</vt:lpstr>
      <vt:lpstr>Franklin Gothic Book</vt:lpstr>
      <vt:lpstr>1_RetrospectVTI</vt:lpstr>
      <vt:lpstr>Functional treat</vt:lpstr>
      <vt:lpstr> </vt:lpstr>
      <vt:lpstr>Project introduction </vt:lpstr>
      <vt:lpstr>Functional treat  of the project  </vt:lpstr>
      <vt:lpstr> input data function </vt:lpstr>
      <vt:lpstr>Display data summary  </vt:lpstr>
      <vt:lpstr>Functional Treat Summary 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Prajapati</dc:creator>
  <cp:lastModifiedBy>Jay Prajapati</cp:lastModifiedBy>
  <cp:revision>1</cp:revision>
  <dcterms:created xsi:type="dcterms:W3CDTF">2026-08-27T09:57:24Z</dcterms:created>
  <dcterms:modified xsi:type="dcterms:W3CDTF">2026-08-27T10:48:55Z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